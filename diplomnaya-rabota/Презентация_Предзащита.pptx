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75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Разработка адаптивной системы рекомендаций</a:t>
            </a:r>
            <a:br/>
            <a:r>
              <a:t>для интернет-магазина и оценка её влияния</a:t>
            </a:r>
            <a:br/>
            <a:r>
              <a:t>на эффективность</a:t>
            </a:r>
          </a:p>
          <a:p>
            <a:br/>
            <a:pPr algn="ctr">
              <a:defRPr sz="1800">
                <a:solidFill>
                  <a:srgbClr val="2E86C1"/>
                </a:solidFill>
              </a:defRPr>
            </a:pPr>
            <a:r>
              <a:t>Магистерская диссертация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400000"/>
            <a:ext cx="7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BBCC"/>
                </a:solidFill>
              </a:defRPr>
            </a:pPr>
            <a:r>
              <a:t>Пред-защита</a:t>
            </a:r>
            <a:br/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Актуальность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35% выручки Amazon генерируется рекомендациями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Персонализация повышает конверсию на 10-30%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Проблема холодного старта — новые пользователи без истории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Необходимость научно обоснованной оценки (A/B тесты)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Проблема: </a:t>
            </a:r>
            <a:r>
              <a:rPr sz="1600">
                <a:solidFill>
                  <a:srgbClr val="5D6D7E"/>
                </a:solidFill>
              </a:rPr>
              <a:t>Как создать адаптивную систему,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которая работает и для новых, и для активных пользователей?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Цель: </a:t>
            </a:r>
            <a:r>
              <a:rPr sz="1600">
                <a:solidFill>
                  <a:srgbClr val="5D6D7E"/>
                </a:solidFill>
              </a:rPr>
              <a:t>Разработать адаптивную систему рекомендаций 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экспериментально доказать её эффективность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Задачи: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Разработать гибридный алгоритм рекомендаций (4 стратегии)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Реализовать механизм A/B тестирования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Внедрить систему offline-метрик качества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Провести эксперимент и подтвердить статистическую значимость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Решить проблему холодного старта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Серверная часть: </a:t>
            </a:r>
            <a:r>
              <a:rPr sz="1600">
                <a:solidFill>
                  <a:srgbClr val="5D6D7E"/>
                </a:solidFill>
              </a:rPr>
              <a:t>.NET 10, C# 13, ASP.NET Core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База данных: </a:t>
            </a:r>
            <a:r>
              <a:rPr sz="1600">
                <a:solidFill>
                  <a:srgbClr val="5D6D7E"/>
                </a:solidFill>
              </a:rPr>
              <a:t>SQL Server 2022 (Docker)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Кэширование: </a:t>
            </a:r>
            <a:r>
              <a:rPr sz="1600">
                <a:solidFill>
                  <a:srgbClr val="5D6D7E"/>
                </a:solidFill>
              </a:rPr>
              <a:t>Redis (Docker)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AI/Эмбеддинги: </a:t>
            </a:r>
            <a:r>
              <a:rPr sz="1600">
                <a:solidFill>
                  <a:srgbClr val="5D6D7E"/>
                </a:solidFill>
              </a:rPr>
              <a:t>Azure OpenAI (text-embedding-ada-002, 1536 dim)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Фронтенд: </a:t>
            </a:r>
            <a:r>
              <a:rPr sz="1600">
                <a:solidFill>
                  <a:srgbClr val="5D6D7E"/>
                </a:solidFill>
              </a:rPr>
              <a:t>Razor Pages SSR + Bootstrap 5 + JavaScript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Реальное время: </a:t>
            </a:r>
            <a:r>
              <a:rPr sz="1600">
                <a:solidFill>
                  <a:srgbClr val="5D6D7E"/>
                </a:solidFill>
              </a:rPr>
              <a:t>SignalR (уведомления)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Архитектура: </a:t>
            </a:r>
            <a:r>
              <a:rPr sz="1600">
                <a:solidFill>
                  <a:srgbClr val="5D6D7E"/>
                </a:solidFill>
              </a:rPr>
              <a:t>Clean Architecture (3 слоя)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Воспроизводимость: </a:t>
            </a:r>
            <a:r>
              <a:rPr sz="1600">
                <a:solidFill>
                  <a:srgbClr val="5D6D7E"/>
                </a:solidFill>
              </a:rPr>
              <a:t>Docker Compose + seed=42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Архитектура системы</a:t>
            </a:r>
          </a:p>
        </p:txBody>
      </p:sp>
      <p:pic>
        <p:nvPicPr>
          <p:cNvPr id="3" name="Picture 2" descr="02-ARCHITECTURE_01_Диаграмма_верхнего_уровн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4728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1 — Высокоуровневая архитектура адаптивной рекомендательной системы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 стратегии рекомендаций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1. Popular: </a:t>
            </a:r>
            <a:r>
              <a:rPr sz="1600">
                <a:solidFill>
                  <a:srgbClr val="5D6D7E"/>
                </a:solidFill>
              </a:rPr>
              <a:t>Глобально популярные (контрольная группа)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  → Веса: </a:t>
            </a:r>
            <a:r>
              <a:rPr sz="1600">
                <a:solidFill>
                  <a:srgbClr val="5D6D7E"/>
                </a:solidFill>
              </a:rPr>
              <a:t>Purchase=5, Cart=3, Click=2, View=1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2. Collaborative Filtering: </a:t>
            </a:r>
            <a:r>
              <a:rPr sz="1600">
                <a:solidFill>
                  <a:srgbClr val="5D6D7E"/>
                </a:solidFill>
              </a:rPr>
              <a:t>«Похожие пользователи купили...»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Сумма взвешенных сигналов от соседей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3. Content-Based: </a:t>
            </a:r>
            <a:r>
              <a:rPr sz="1600">
                <a:solidFill>
                  <a:srgbClr val="5D6D7E"/>
                </a:solidFill>
              </a:rPr>
              <a:t>Косинусное сходство эмбеддингов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1536-мерные вектора (Azure OpenAI)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4. Adaptive (Гибридная): </a:t>
            </a:r>
            <a:r>
              <a:rPr sz="1600">
                <a:solidFill>
                  <a:srgbClr val="5D6D7E"/>
                </a:solidFill>
              </a:rPr>
              <a:t>Комбинация всех подходов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CF(40%) + CB(35%) + Trend(15%) + Recency(10%)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Гибридная адаптивная формула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Score(u,p) = 0.40·CF + 0.35·CB + 0.15·Trend + 0.10·Recency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Компоненты: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CF — коллаборативная (похожие пользователи)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CB — контентная (косинусное сходство эмбеддингов)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Trend — популярность за 7 дней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Recency — новизна товара (затухание за 30 дней)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Нормализация: </a:t>
            </a:r>
            <a:r>
              <a:rPr sz="1600">
                <a:solidFill>
                  <a:srgbClr val="5D6D7E"/>
                </a:solidFill>
              </a:rPr>
              <a:t>каждый компонент → [0, 1]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Normalized(s) = (s - min) / (max - 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Решение проблемы холодного старта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Каскадная стратегия по количеству взаимодействий: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0 взаимодействий: </a:t>
            </a:r>
            <a:r>
              <a:rPr sz="1600">
                <a:solidFill>
                  <a:srgbClr val="5D6D7E"/>
                </a:solidFill>
              </a:rPr>
              <a:t>→ 100% Popular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(нет данных — показываем глобально популярное)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1–2 взаимодействия: </a:t>
            </a:r>
            <a:r>
              <a:rPr sz="1600">
                <a:solidFill>
                  <a:srgbClr val="5D6D7E"/>
                </a:solidFill>
              </a:rPr>
              <a:t>→ 70% Popular + 30% Content-Based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(минимум данных — добавляем похожие товары)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≥3 взаимодействий: </a:t>
            </a:r>
            <a:r>
              <a:rPr sz="1600">
                <a:solidFill>
                  <a:srgbClr val="5D6D7E"/>
                </a:solidFill>
              </a:rPr>
              <a:t>→ Полная гибридная формула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(достаточно данных для CF + CB + Trend + Recency)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Диаграмма активности — Генерация рекомендаций</a:t>
            </a:r>
          </a:p>
        </p:txBody>
      </p:sp>
      <p:pic>
        <p:nvPicPr>
          <p:cNvPr id="3" name="Picture 2" descr="09-UML-DIAGRAMS_05_5_Диаграмма_активности_Генерация_рекомендаци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46852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2 — Процесс выбора стратегии и генерации рекомендаций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Методология A/B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Детерминированное назначение: </a:t>
            </a:r>
            <a:r>
              <a:rPr sz="1600">
                <a:solidFill>
                  <a:srgbClr val="5D6D7E"/>
                </a:solidFill>
              </a:rPr>
              <a:t>hash(userId + expId)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hash = 17; foreach(c) hash = hash × 31 + c;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  group = |hash| mod 100 &lt; 50 ? Treatment : </a:t>
            </a:r>
            <a:r>
              <a:rPr sz="1600">
                <a:solidFill>
                  <a:srgbClr val="5D6D7E"/>
                </a:solidFill>
              </a:rPr>
              <a:t>Control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Свойства: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Идемпотентность — повторные визиты → та же группа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Без предварительного назначения (lazy)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Равномерное распределение (~50/50)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Эксперимент: </a:t>
            </a:r>
            <a:r>
              <a:rPr sz="1600">
                <a:solidFill>
                  <a:srgbClr val="5D6D7E"/>
                </a:solidFill>
              </a:rPr>
              <a:t>Popular (Control) vs Adaptive (Treatment)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10 пользователей в каждой группе, 14 дней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Процесс назначения в группу A/B теста</a:t>
            </a:r>
          </a:p>
        </p:txBody>
      </p:sp>
      <p:pic>
        <p:nvPicPr>
          <p:cNvPr id="3" name="Picture 2" descr="09-UML-DIAGRAMS_06_6_Диаграмма_активности_Процесс_AB_назнач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16353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3 — Детерминированное назначение пользователя в группу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Результаты A/B эксперимента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792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584000"/>
                <a:gridCol w="1584000"/>
                <a:gridCol w="1584000"/>
                <a:gridCol w="1584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Control (Popular)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Treatment (Adaptive)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Лифт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 0.01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Конверсия (→Cart)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 0.01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Конверсия (→Purchase)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 0.05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NDCG@8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Сравнение CTR по стратегиям</a:t>
            </a:r>
          </a:p>
        </p:txBody>
      </p:sp>
      <p:pic>
        <p:nvPicPr>
          <p:cNvPr id="3" name="Picture 2" descr="10-GRAPHS_01_1_Сравнение_CTR_по_стратегиям_столбчатая_диаграмм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912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4 — CTR: Adaptive значительно превосходит Popular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Конверсия по стратегиям</a:t>
            </a:r>
          </a:p>
        </p:txBody>
      </p:sp>
      <p:pic>
        <p:nvPicPr>
          <p:cNvPr id="3" name="Picture 2" descr="10-GRAPHS_02_2_Сравнение_конверсии_столбчатая_диаграмм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912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5 — Конверсия Click→Purchase по стратегиям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Лифты: Adaptive vs Popular</a:t>
            </a:r>
          </a:p>
        </p:txBody>
      </p:sp>
      <p:pic>
        <p:nvPicPr>
          <p:cNvPr id="3" name="Picture 2" descr="10-GRAPHS_04_5_Лифты_AB_эксперимента_горизонтальная_столбчата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912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6 — Процентный прирост эффективности адаптивной стратегии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Воронка конверсии</a:t>
            </a:r>
          </a:p>
        </p:txBody>
      </p:sp>
      <p:pic>
        <p:nvPicPr>
          <p:cNvPr id="3" name="Picture 2" descr="10-GRAPHS_05_6_Воронка_конверсии_контроль_vs_эксперимен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912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7 — Сравнение воронок: контрольная vs экспериментальная группа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Статистическая значимость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z-тест для пропорций (CTR, конверсия):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z = (p₁ - p₂) / √(p̂(1-p̂)(1/n₁ + 1/n₂))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t-тест Уэлча для средних (средний чек):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t = (x̄₁ - x̄₂) / √(s₁²/n₁ + s₂²/n₂)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Уровень значимости: </a:t>
            </a:r>
            <a:r>
              <a:rPr sz="1600">
                <a:solidFill>
                  <a:srgbClr val="5D6D7E"/>
                </a:solidFill>
              </a:rPr>
              <a:t>α = 0.05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Все ключевые метрики: </a:t>
            </a:r>
            <a:r>
              <a:rPr sz="1600">
                <a:solidFill>
                  <a:srgbClr val="5D6D7E"/>
                </a:solidFill>
              </a:rPr>
              <a:t>p &lt; 0.05 → результат значим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Вывод: </a:t>
            </a:r>
            <a:r>
              <a:rPr sz="1600">
                <a:solidFill>
                  <a:srgbClr val="5D6D7E"/>
                </a:solidFill>
              </a:rPr>
              <a:t>Адаптивная стратегия статистически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достоверно превосходит Popular baseline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Offline-метрики (Temporal Split 80/20)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792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584000"/>
                <a:gridCol w="1584000"/>
                <a:gridCol w="1584000"/>
                <a:gridCol w="1584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Popular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CF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Content-Based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Adaptive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Precision@8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Recall@8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NDCG@8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0.25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0.32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Диаграмма классов — Сервисный слой</a:t>
            </a:r>
          </a:p>
        </p:txBody>
      </p:sp>
      <p:pic>
        <p:nvPicPr>
          <p:cNvPr id="3" name="Picture 2" descr="09-UML-DIAGRAMS_02_2_Диаграмма_классов_Сервисный_сл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222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8 — UML: Интерфейсы и реализации рекомендательной системы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ER-диаграмма базы данных</a:t>
            </a:r>
          </a:p>
        </p:txBody>
      </p:sp>
      <p:pic>
        <p:nvPicPr>
          <p:cNvPr id="3" name="Picture 2" descr="04-DATABASE_01_ER-диаграмма_основные_таблицы_рекомендательной_систем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6263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9 — Схема базы данных рекомендательной системы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Распределение весов гибридной модели</a:t>
            </a:r>
          </a:p>
        </p:txBody>
      </p:sp>
      <p:pic>
        <p:nvPicPr>
          <p:cNvPr id="3" name="Picture 2" descr="10-GRAPHS_06_8_Распределение_весов_гибридной_модели_кругова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4707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120000"/>
            <a:ext cx="8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D7E"/>
                </a:solidFill>
              </a:defRPr>
            </a:pPr>
            <a:r>
              <a:t>Рис. 10 — CF: 40%, CB: 35%, Trending: 15%, Recency: 10%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1. Разработана гибридная адаптивная система рекомендаций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с 4 стратегиями и решением холодного старта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2. Система A/B тестирования с детерминированным хешем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обеспечивает валидное сравнение стратегий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3. Адаптивная стратегия показывает: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   • CTR: </a:t>
            </a:r>
            <a:r>
              <a:rPr sz="1600">
                <a:solidFill>
                  <a:srgbClr val="5D6D7E"/>
                </a:solidFill>
              </a:rPr>
              <a:t>+97% (8% → 16%)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   • Конверсия: </a:t>
            </a:r>
            <a:r>
              <a:rPr sz="1600">
                <a:solidFill>
                  <a:srgbClr val="5D6D7E"/>
                </a:solidFill>
              </a:rPr>
              <a:t>+60% (25% → 40%)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</a:rPr>
              <a:t>   • NDCG@8: </a:t>
            </a:r>
            <a:r>
              <a:rPr sz="1600">
                <a:solidFill>
                  <a:srgbClr val="5D6D7E"/>
                </a:solidFill>
              </a:rPr>
              <a:t>+108% (0.12 → 0.25)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4. Все результаты статистически значимы (p &lt; 0.05)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Научная новизна и практическая значимость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Научная новизна: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Гибридная формула с адаптивными весами для e-commerce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Каскадный подход к холодному старту (0 → 1-2 → 3+)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Комплексная offline + online система оценки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Практическая значимость: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Готовое к production решение на .NET 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Воспроизводимый эксперимент (seed=42, Docker)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Полный стек метрик для принятия бизнес-решений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Open-source реализация для образовательных целей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75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  <a:p>
            <a:br/>
            <a:pPr algn="ctr">
              <a:defRPr sz="2000">
                <a:solidFill>
                  <a:srgbClr val="2E86C1"/>
                </a:solidFill>
              </a:defRPr>
            </a:pPr>
            <a:r>
              <a:t>Готов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